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sldIdLst>
    <p:sldId id="298" r:id="rId2"/>
    <p:sldId id="279" r:id="rId3"/>
    <p:sldId id="278" r:id="rId4"/>
    <p:sldId id="262" r:id="rId5"/>
    <p:sldId id="296" r:id="rId6"/>
    <p:sldId id="270" r:id="rId7"/>
    <p:sldId id="281" r:id="rId8"/>
    <p:sldId id="299" r:id="rId9"/>
    <p:sldId id="300" r:id="rId10"/>
    <p:sldId id="301" r:id="rId11"/>
    <p:sldId id="302" r:id="rId12"/>
    <p:sldId id="286" r:id="rId13"/>
    <p:sldId id="271" r:id="rId14"/>
    <p:sldId id="272" r:id="rId15"/>
    <p:sldId id="280" r:id="rId16"/>
    <p:sldId id="285" r:id="rId17"/>
    <p:sldId id="282" r:id="rId18"/>
    <p:sldId id="283" r:id="rId19"/>
    <p:sldId id="284" r:id="rId20"/>
    <p:sldId id="287" r:id="rId21"/>
    <p:sldId id="291" r:id="rId22"/>
    <p:sldId id="288" r:id="rId23"/>
    <p:sldId id="289" r:id="rId24"/>
    <p:sldId id="290" r:id="rId25"/>
    <p:sldId id="292" r:id="rId26"/>
    <p:sldId id="293" r:id="rId27"/>
    <p:sldId id="294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FF2"/>
    <a:srgbClr val="F3F8FA"/>
    <a:srgbClr val="F0F4F1"/>
    <a:srgbClr val="E9F3F5"/>
    <a:srgbClr val="F0F7F8"/>
    <a:srgbClr val="FF0066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1" d="100"/>
          <a:sy n="71" d="100"/>
        </p:scale>
        <p:origin x="6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FBAD-2C82-418E-B38A-8007B615340F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4CA4806-231E-4D47-81B5-4CA13DC65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6691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FBAD-2C82-418E-B38A-8007B615340F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4806-231E-4D47-81B5-4CA13DC65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5601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FBAD-2C82-418E-B38A-8007B615340F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4CA4806-231E-4D47-81B5-4CA13DC65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41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FBAD-2C82-418E-B38A-8007B615340F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4CA4806-231E-4D47-81B5-4CA13DC65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42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FBAD-2C82-418E-B38A-8007B615340F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4CA4806-231E-4D47-81B5-4CA13DC65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762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FBAD-2C82-418E-B38A-8007B615340F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4806-231E-4D47-81B5-4CA13DC65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96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FBAD-2C82-418E-B38A-8007B615340F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4806-231E-4D47-81B5-4CA13DC65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374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FBAD-2C82-418E-B38A-8007B615340F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4806-231E-4D47-81B5-4CA13DC65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040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FBAD-2C82-418E-B38A-8007B615340F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4CA4806-231E-4D47-81B5-4CA13DC65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369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FBAD-2C82-418E-B38A-8007B615340F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4CA4806-231E-4D47-81B5-4CA13DC65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3431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FBAD-2C82-418E-B38A-8007B615340F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4CA4806-231E-4D47-81B5-4CA13DC65781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692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FBAD-2C82-418E-B38A-8007B615340F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4CA4806-231E-4D47-81B5-4CA13DC65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306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FBAD-2C82-418E-B38A-8007B615340F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4CA4806-231E-4D47-81B5-4CA13DC65781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073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FBAD-2C82-418E-B38A-8007B615340F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4CA4806-231E-4D47-81B5-4CA13DC65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157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FBAD-2C82-418E-B38A-8007B615340F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4806-231E-4D47-81B5-4CA13DC65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885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FBAD-2C82-418E-B38A-8007B615340F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4806-231E-4D47-81B5-4CA13DC65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76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2FBAD-2C82-418E-B38A-8007B615340F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4CA4806-231E-4D47-81B5-4CA13DC65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607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4.jpeg"/><Relationship Id="rId7" Type="http://schemas.openxmlformats.org/officeDocument/2006/relationships/image" Target="../media/image17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microsoft.com/office/2007/relationships/hdphoto" Target="../media/hdphoto1.wdp"/><Relationship Id="rId4" Type="http://schemas.openxmlformats.org/officeDocument/2006/relationships/image" Target="../media/image15.png"/><Relationship Id="rId9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ongue-twister.net/fi.htm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00568" y="560231"/>
            <a:ext cx="8273742" cy="2620851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>
                <a:solidFill>
                  <a:srgbClr val="0070C0"/>
                </a:solidFill>
              </a:rPr>
              <a:t>CS00BQ87-3038 </a:t>
            </a:r>
            <a:r>
              <a:rPr lang="en-US" sz="4800" b="1" dirty="0" smtClean="0">
                <a:solidFill>
                  <a:srgbClr val="0070C0"/>
                </a:solidFill>
              </a:rPr>
              <a:t>Finnish </a:t>
            </a:r>
            <a:r>
              <a:rPr lang="en-US" sz="4800" b="1" dirty="0">
                <a:solidFill>
                  <a:srgbClr val="0070C0"/>
                </a:solidFill>
              </a:rPr>
              <a:t>as a foreign language, level 1</a:t>
            </a:r>
          </a:p>
          <a:p>
            <a:endParaRPr lang="ru-RU" dirty="0"/>
          </a:p>
        </p:txBody>
      </p:sp>
      <p:pic>
        <p:nvPicPr>
          <p:cNvPr id="4" name="Рисунок 3" descr="C:\Users\Nina\Documents\SUOMI\10700305_881555208523609_3161432434170998082_o.jpg"/>
          <p:cNvPicPr/>
          <p:nvPr/>
        </p:nvPicPr>
        <p:blipFill rotWithShape="1">
          <a:blip r:embed="rId2">
            <a:clrChange>
              <a:clrFrom>
                <a:srgbClr val="E8E2D6"/>
              </a:clrFrom>
              <a:clrTo>
                <a:srgbClr val="E8E2D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" t="13534" r="5056" b="51911"/>
          <a:stretch/>
        </p:blipFill>
        <p:spPr bwMode="auto">
          <a:xfrm>
            <a:off x="3752603" y="2529189"/>
            <a:ext cx="7659999" cy="40443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269878" y="2245651"/>
            <a:ext cx="1917166" cy="1063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00568" y="2348877"/>
            <a:ext cx="5253958" cy="1280890"/>
          </a:xfrm>
        </p:spPr>
        <p:txBody>
          <a:bodyPr/>
          <a:lstStyle/>
          <a:p>
            <a:r>
              <a:rPr lang="sv-SE" dirty="0" smtClean="0"/>
              <a:t>moodle.abo.fi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729898" y="2401135"/>
            <a:ext cx="2212221" cy="10969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9542107" y="2245651"/>
            <a:ext cx="2017916" cy="8368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4405746" y="3082465"/>
            <a:ext cx="1668881" cy="5102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1147612" y="3872753"/>
            <a:ext cx="467694" cy="1882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8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5609522"/>
          </a:xfrm>
        </p:spPr>
        <p:txBody>
          <a:bodyPr>
            <a:normAutofit fontScale="90000"/>
          </a:bodyPr>
          <a:lstStyle/>
          <a:p>
            <a:pPr algn="ctr"/>
            <a:r>
              <a:rPr lang="sv-SE" sz="8000" b="1" dirty="0" smtClean="0"/>
              <a:t>Taloissanne</a:t>
            </a:r>
            <a:r>
              <a:rPr lang="sv-SE" sz="8000" b="1" dirty="0"/>
              <a:t/>
            </a:r>
            <a:br>
              <a:rPr lang="sv-SE" sz="8000" b="1" dirty="0"/>
            </a:br>
            <a:r>
              <a:rPr lang="sv-SE" sz="8000" b="1" dirty="0" smtClean="0"/>
              <a:t/>
            </a:r>
            <a:br>
              <a:rPr lang="sv-SE" sz="8000" b="1" dirty="0" smtClean="0"/>
            </a:br>
            <a:r>
              <a:rPr lang="sv-SE" sz="8000" b="1" dirty="0" smtClean="0">
                <a:solidFill>
                  <a:srgbClr val="FF0000"/>
                </a:solidFill>
              </a:rPr>
              <a:t>talo</a:t>
            </a:r>
            <a:r>
              <a:rPr lang="sv-SE" sz="8000" b="1" dirty="0" smtClean="0">
                <a:solidFill>
                  <a:srgbClr val="00B0F0"/>
                </a:solidFill>
              </a:rPr>
              <a:t>i</a:t>
            </a:r>
            <a:r>
              <a:rPr lang="sv-SE" sz="8000" b="1" dirty="0" smtClean="0">
                <a:solidFill>
                  <a:srgbClr val="FF0066"/>
                </a:solidFill>
              </a:rPr>
              <a:t>ssa</a:t>
            </a:r>
            <a:r>
              <a:rPr lang="sv-SE" sz="8000" b="1" dirty="0" smtClean="0">
                <a:solidFill>
                  <a:srgbClr val="FFC000"/>
                </a:solidFill>
              </a:rPr>
              <a:t>nne</a:t>
            </a:r>
            <a:br>
              <a:rPr lang="sv-SE" sz="8000" b="1" dirty="0" smtClean="0">
                <a:solidFill>
                  <a:srgbClr val="FFC000"/>
                </a:solidFill>
              </a:rPr>
            </a:br>
            <a:r>
              <a:rPr lang="sv-SE" sz="8000" b="1" dirty="0" smtClean="0">
                <a:solidFill>
                  <a:srgbClr val="FFC000"/>
                </a:solidFill>
              </a:rPr>
              <a:t/>
            </a:r>
            <a:br>
              <a:rPr lang="sv-SE" sz="8000" b="1" dirty="0" smtClean="0">
                <a:solidFill>
                  <a:srgbClr val="FFC000"/>
                </a:solidFill>
              </a:rPr>
            </a:br>
            <a:r>
              <a:rPr lang="sv-SE" sz="8000" b="1" dirty="0" smtClean="0">
                <a:solidFill>
                  <a:srgbClr val="FF0066"/>
                </a:solidFill>
              </a:rPr>
              <a:t>in</a:t>
            </a:r>
            <a:r>
              <a:rPr lang="sv-SE" sz="8000" b="1" dirty="0" smtClean="0">
                <a:solidFill>
                  <a:srgbClr val="FFC000"/>
                </a:solidFill>
              </a:rPr>
              <a:t> our </a:t>
            </a:r>
            <a:r>
              <a:rPr lang="sv-SE" sz="8000" b="1" dirty="0" smtClean="0">
                <a:solidFill>
                  <a:srgbClr val="FF0000"/>
                </a:solidFill>
              </a:rPr>
              <a:t>house</a:t>
            </a:r>
            <a:r>
              <a:rPr lang="sv-SE" sz="8000" b="1" dirty="0" smtClean="0">
                <a:solidFill>
                  <a:srgbClr val="00B0F0"/>
                </a:solidFill>
              </a:rPr>
              <a:t>s</a:t>
            </a:r>
            <a:r>
              <a:rPr lang="ru-RU" sz="5400" dirty="0"/>
              <a:t/>
            </a:r>
            <a:br>
              <a:rPr lang="ru-RU" sz="5400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650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24128" y="811369"/>
            <a:ext cx="9720073" cy="5497991"/>
          </a:xfrm>
        </p:spPr>
        <p:txBody>
          <a:bodyPr>
            <a:normAutofit fontScale="92500"/>
          </a:bodyPr>
          <a:lstStyle/>
          <a:p>
            <a:pPr marL="201168" lvl="1" indent="0">
              <a:buNone/>
            </a:pPr>
            <a:r>
              <a:rPr lang="sv-SE" sz="6000" dirty="0">
                <a:solidFill>
                  <a:srgbClr val="FFFF00"/>
                </a:solidFill>
              </a:rPr>
              <a:t>Lentokone</a:t>
            </a:r>
            <a:r>
              <a:rPr lang="sv-SE" sz="6000" dirty="0">
                <a:solidFill>
                  <a:schemeClr val="bg2"/>
                </a:solidFill>
              </a:rPr>
              <a:t>suihku</a:t>
            </a:r>
            <a:r>
              <a:rPr lang="sv-SE" sz="6000" dirty="0">
                <a:solidFill>
                  <a:srgbClr val="FFC000"/>
                </a:solidFill>
              </a:rPr>
              <a:t>turbiini</a:t>
            </a:r>
            <a:r>
              <a:rPr lang="sv-SE" sz="6000" dirty="0">
                <a:solidFill>
                  <a:srgbClr val="C00000"/>
                </a:solidFill>
              </a:rPr>
              <a:t>moottori</a:t>
            </a:r>
            <a:r>
              <a:rPr lang="sv-SE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apumekaanikko</a:t>
            </a:r>
            <a:r>
              <a:rPr lang="sv-SE" sz="6000" dirty="0">
                <a:solidFill>
                  <a:srgbClr val="FF0066"/>
                </a:solidFill>
              </a:rPr>
              <a:t>aliupseeri</a:t>
            </a:r>
            <a:r>
              <a:rPr lang="sv-SE" sz="6000" dirty="0">
                <a:solidFill>
                  <a:srgbClr val="00B050"/>
                </a:solidFill>
              </a:rPr>
              <a:t>oppilas</a:t>
            </a:r>
            <a:r>
              <a:rPr lang="sv-SE" sz="6000" dirty="0"/>
              <a:t> </a:t>
            </a:r>
            <a:r>
              <a:rPr lang="sv-SE" sz="6000" dirty="0" smtClean="0"/>
              <a:t>- </a:t>
            </a:r>
          </a:p>
          <a:p>
            <a:pPr marL="201168" lvl="1" indent="0">
              <a:buNone/>
            </a:pPr>
            <a:r>
              <a:rPr lang="en-US" sz="5200" dirty="0"/>
              <a:t>an airplane jet turbine engine auxiliary mechanic non-commissioned officer student</a:t>
            </a:r>
            <a:endParaRPr lang="sv-FI" sz="5200" dirty="0"/>
          </a:p>
        </p:txBody>
      </p:sp>
    </p:spTree>
    <p:extLst>
      <p:ext uri="{BB962C8B-B14F-4D97-AF65-F5344CB8AC3E}">
        <p14:creationId xmlns:p14="http://schemas.microsoft.com/office/powerpoint/2010/main" val="163850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63813"/>
            <a:ext cx="12192000" cy="1078622"/>
          </a:xfrm>
        </p:spPr>
        <p:txBody>
          <a:bodyPr>
            <a:normAutofit fontScale="90000"/>
          </a:bodyPr>
          <a:lstStyle/>
          <a:p>
            <a:pPr algn="ctr"/>
            <a:r>
              <a:rPr lang="sv-SE" sz="7200" dirty="0" smtClean="0">
                <a:solidFill>
                  <a:schemeClr val="accent3">
                    <a:lumMod val="75000"/>
                  </a:schemeClr>
                </a:solidFill>
              </a:rPr>
              <a:t>Puhekieli</a:t>
            </a:r>
            <a:endParaRPr lang="ru-RU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67435" y="1698308"/>
            <a:ext cx="10416988" cy="519018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sv-FI" sz="4000" b="1" dirty="0"/>
              <a:t>Standard language				Spoken </a:t>
            </a:r>
            <a:r>
              <a:rPr lang="sv-FI" sz="4000" b="1" dirty="0" smtClean="0"/>
              <a:t>version</a:t>
            </a:r>
          </a:p>
          <a:p>
            <a:pPr marL="0" indent="0">
              <a:buNone/>
            </a:pPr>
            <a:endParaRPr lang="sv-FI" sz="40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sv-FI" sz="4000" dirty="0"/>
              <a:t>Minä menen </a:t>
            </a:r>
            <a:r>
              <a:rPr lang="sv-FI" sz="4000" dirty="0">
                <a:solidFill>
                  <a:srgbClr val="0070C0"/>
                </a:solidFill>
              </a:rPr>
              <a:t>(</a:t>
            </a:r>
            <a:r>
              <a:rPr lang="sv-FI" sz="4000" dirty="0" smtClean="0">
                <a:solidFill>
                  <a:srgbClr val="0070C0"/>
                </a:solidFill>
              </a:rPr>
              <a:t>I go</a:t>
            </a:r>
            <a:r>
              <a:rPr lang="sv-FI" sz="4000" dirty="0">
                <a:solidFill>
                  <a:srgbClr val="0070C0"/>
                </a:solidFill>
              </a:rPr>
              <a:t>)</a:t>
            </a:r>
            <a:r>
              <a:rPr lang="sv-FI" sz="4000" dirty="0"/>
              <a:t>			</a:t>
            </a:r>
            <a:r>
              <a:rPr lang="sv-FI" sz="4000" dirty="0" smtClean="0"/>
              <a:t>    Mä </a:t>
            </a:r>
            <a:r>
              <a:rPr lang="sv-FI" sz="4000" dirty="0"/>
              <a:t>meen	 	</a:t>
            </a:r>
            <a:endParaRPr lang="sv-FI" sz="4000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v-FI" sz="40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sv-FI" sz="4000" dirty="0" smtClean="0"/>
              <a:t>Haluatko sinä</a:t>
            </a:r>
            <a:r>
              <a:rPr lang="sv-FI" sz="4000" dirty="0"/>
              <a:t>...? </a:t>
            </a:r>
            <a:r>
              <a:rPr lang="sv-FI" sz="4000" dirty="0" smtClean="0"/>
              <a:t>                 Haluuksä</a:t>
            </a:r>
            <a:r>
              <a:rPr lang="sv-FI" sz="4000" dirty="0"/>
              <a:t>...? </a:t>
            </a:r>
            <a:endParaRPr lang="sv-FI" sz="4000" dirty="0">
              <a:solidFill>
                <a:srgbClr val="0070C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FI" sz="4000" dirty="0" smtClean="0">
                <a:solidFill>
                  <a:srgbClr val="0070C0"/>
                </a:solidFill>
              </a:rPr>
              <a:t>Do </a:t>
            </a:r>
            <a:r>
              <a:rPr lang="sv-FI" sz="4000" dirty="0">
                <a:solidFill>
                  <a:srgbClr val="0070C0"/>
                </a:solidFill>
              </a:rPr>
              <a:t>you </a:t>
            </a:r>
            <a:r>
              <a:rPr lang="sv-FI" sz="4000" dirty="0" smtClean="0">
                <a:solidFill>
                  <a:srgbClr val="0070C0"/>
                </a:solidFill>
              </a:rPr>
              <a:t>want</a:t>
            </a:r>
            <a:r>
              <a:rPr lang="sv-FI" sz="4000" dirty="0" smtClean="0">
                <a:solidFill>
                  <a:srgbClr val="0070C0"/>
                </a:solidFill>
              </a:rPr>
              <a:t>...?)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v-FI" sz="4000" dirty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sv-FI" sz="4000" dirty="0" smtClean="0"/>
              <a:t>Ehditkö </a:t>
            </a:r>
            <a:r>
              <a:rPr lang="sv-FI" sz="4000" dirty="0"/>
              <a:t>sinä...? </a:t>
            </a:r>
            <a:r>
              <a:rPr lang="sv-FI" sz="4000" dirty="0" smtClean="0"/>
              <a:t>                    Ehitksä?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sv-FI" sz="4000" dirty="0" smtClean="0">
                <a:solidFill>
                  <a:srgbClr val="0070C0"/>
                </a:solidFill>
              </a:rPr>
              <a:t>(Do you have time...?)</a:t>
            </a:r>
            <a:endParaRPr lang="sv-FI" sz="4000" dirty="0" smtClean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sv-FI" sz="40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sv-FI" sz="4000" dirty="0" smtClean="0"/>
              <a:t>Kaksikymmentäyksi              Kakskytyks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FI" sz="4000" dirty="0" smtClean="0">
                <a:solidFill>
                  <a:srgbClr val="0070C0"/>
                </a:solidFill>
              </a:rPr>
              <a:t>(Twenty one)</a:t>
            </a:r>
            <a:r>
              <a:rPr lang="sv-FI" sz="4000" dirty="0" smtClean="0"/>
              <a:t/>
            </a:r>
            <a:br>
              <a:rPr lang="sv-FI" sz="4000" dirty="0" smtClean="0"/>
            </a:br>
            <a:r>
              <a:rPr lang="sv-FI" sz="4000" dirty="0">
                <a:solidFill>
                  <a:srgbClr val="0070C0"/>
                </a:solidFill>
              </a:rPr>
              <a:t>	</a:t>
            </a:r>
            <a:r>
              <a:rPr lang="sv-FI" sz="4000" dirty="0" smtClean="0">
                <a:solidFill>
                  <a:srgbClr val="0070C0"/>
                </a:solidFill>
              </a:rPr>
              <a:t>                           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sv-FI" sz="4000" dirty="0">
              <a:solidFill>
                <a:srgbClr val="FFC000"/>
              </a:solidFill>
            </a:endParaRP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844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8035" y="200395"/>
            <a:ext cx="11256134" cy="1499616"/>
          </a:xfrm>
        </p:spPr>
        <p:txBody>
          <a:bodyPr/>
          <a:lstStyle/>
          <a:p>
            <a:pPr algn="ctr"/>
            <a:r>
              <a:rPr lang="sv-SE" dirty="0" smtClean="0"/>
              <a:t>Why is Finnish easy to learn?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 descr="A confused-looking  polar bear stands on its hind legs and shrugs, with Helsinki Cathedral in the background.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2537" y="1336053"/>
            <a:ext cx="5923253" cy="5923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вальная выноска 3"/>
          <p:cNvSpPr/>
          <p:nvPr/>
        </p:nvSpPr>
        <p:spPr>
          <a:xfrm>
            <a:off x="7765961" y="1336053"/>
            <a:ext cx="4288664" cy="1741998"/>
          </a:xfrm>
          <a:prstGeom prst="wedgeEllipseCallout">
            <a:avLst>
              <a:gd name="adj1" fmla="val -56569"/>
              <a:gd name="adj2" fmla="val 86158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 err="1"/>
              <a:t>No</a:t>
            </a:r>
            <a:r>
              <a:rPr lang="ru-RU" sz="2800" b="1" dirty="0"/>
              <a:t> </a:t>
            </a:r>
            <a:r>
              <a:rPr lang="ru-RU" sz="2800" b="1" dirty="0" err="1"/>
              <a:t>definite</a:t>
            </a:r>
            <a:r>
              <a:rPr lang="ru-RU" sz="2800" b="1" dirty="0"/>
              <a:t> </a:t>
            </a:r>
            <a:r>
              <a:rPr lang="ru-RU" sz="2800" b="1" dirty="0" err="1"/>
              <a:t>or</a:t>
            </a:r>
            <a:r>
              <a:rPr lang="ru-RU" sz="2800" b="1" dirty="0"/>
              <a:t> </a:t>
            </a:r>
            <a:r>
              <a:rPr lang="ru-RU" sz="2800" b="1" dirty="0" err="1"/>
              <a:t>indefinite</a:t>
            </a:r>
            <a:r>
              <a:rPr lang="ru-RU" sz="2800" b="1" dirty="0"/>
              <a:t> </a:t>
            </a:r>
            <a:r>
              <a:rPr lang="ru-RU" sz="2800" b="1" dirty="0" err="1"/>
              <a:t>articles</a:t>
            </a:r>
            <a:r>
              <a:rPr lang="ru-RU" sz="2800" b="1" dirty="0"/>
              <a:t> </a:t>
            </a:r>
          </a:p>
          <a:p>
            <a:pPr algn="ctr"/>
            <a:endParaRPr lang="ru-RU" dirty="0"/>
          </a:p>
        </p:txBody>
      </p:sp>
      <p:sp>
        <p:nvSpPr>
          <p:cNvPr id="5" name="Овальная выноска 4"/>
          <p:cNvSpPr/>
          <p:nvPr/>
        </p:nvSpPr>
        <p:spPr>
          <a:xfrm>
            <a:off x="798491" y="1864347"/>
            <a:ext cx="3477295" cy="1571222"/>
          </a:xfrm>
          <a:prstGeom prst="wedgeEllipseCallout">
            <a:avLst>
              <a:gd name="adj1" fmla="val 71389"/>
              <a:gd name="adj2" fmla="val 68238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Very </a:t>
            </a:r>
            <a:r>
              <a:rPr lang="en-US" sz="2800" b="1" dirty="0" smtClean="0"/>
              <a:t>simple plural form</a:t>
            </a:r>
            <a:endParaRPr lang="ru-RU" sz="2800" b="1" dirty="0"/>
          </a:p>
        </p:txBody>
      </p:sp>
      <p:sp>
        <p:nvSpPr>
          <p:cNvPr id="6" name="Овальная выноска 5"/>
          <p:cNvSpPr/>
          <p:nvPr/>
        </p:nvSpPr>
        <p:spPr>
          <a:xfrm>
            <a:off x="7765961" y="4765183"/>
            <a:ext cx="2987899" cy="1429555"/>
          </a:xfrm>
          <a:prstGeom prst="wedgeEllipseCallout">
            <a:avLst>
              <a:gd name="adj1" fmla="val -81178"/>
              <a:gd name="adj2" fmla="val -5461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No future </a:t>
            </a:r>
            <a:r>
              <a:rPr lang="en-US" sz="2400" b="1" dirty="0" smtClean="0"/>
              <a:t>tense</a:t>
            </a:r>
            <a:endParaRPr lang="ru-RU" sz="2400" b="1" dirty="0"/>
          </a:p>
        </p:txBody>
      </p:sp>
      <p:sp>
        <p:nvSpPr>
          <p:cNvPr id="7" name="Овальная выноска 6"/>
          <p:cNvSpPr/>
          <p:nvPr/>
        </p:nvSpPr>
        <p:spPr>
          <a:xfrm>
            <a:off x="798490" y="5138669"/>
            <a:ext cx="3235627" cy="1206141"/>
          </a:xfrm>
          <a:prstGeom prst="wedgeEllipseCallout">
            <a:avLst>
              <a:gd name="adj1" fmla="val 85976"/>
              <a:gd name="adj2" fmla="val -101434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Easy pronunciation 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857867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6752" y="489639"/>
            <a:ext cx="9708777" cy="1280890"/>
          </a:xfrm>
        </p:spPr>
        <p:txBody>
          <a:bodyPr>
            <a:normAutofit fontScale="90000"/>
          </a:bodyPr>
          <a:lstStyle/>
          <a:p>
            <a:pPr algn="ctr"/>
            <a:r>
              <a:rPr lang="sv-SE" sz="7200" dirty="0">
                <a:solidFill>
                  <a:schemeClr val="accent3">
                    <a:lumMod val="75000"/>
                  </a:schemeClr>
                </a:solidFill>
              </a:rPr>
              <a:t>s</a:t>
            </a:r>
            <a:r>
              <a:rPr lang="sv-SE" sz="7200" dirty="0" smtClean="0">
                <a:solidFill>
                  <a:schemeClr val="accent3">
                    <a:lumMod val="75000"/>
                  </a:schemeClr>
                </a:solidFill>
              </a:rPr>
              <a:t>isu </a:t>
            </a:r>
            <a:r>
              <a:rPr lang="sv-SE" sz="7200" dirty="0" smtClean="0">
                <a:solidFill>
                  <a:schemeClr val="accent3">
                    <a:lumMod val="75000"/>
                  </a:schemeClr>
                </a:solidFill>
              </a:rPr>
              <a:t>– </a:t>
            </a:r>
            <a:r>
              <a:rPr lang="en-US" sz="5300" cap="none" dirty="0">
                <a:solidFill>
                  <a:schemeClr val="accent3">
                    <a:lumMod val="75000"/>
                  </a:schemeClr>
                </a:solidFill>
              </a:rPr>
              <a:t>willpower, determination regardless of cost</a:t>
            </a:r>
            <a:endParaRPr lang="ru-RU" sz="5300" cap="none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5122" name="Picture 2" descr="Emoji: Sisu - Finland Tool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973" y="1573116"/>
            <a:ext cx="7854383" cy="589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49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096"/>
            <a:ext cx="12187158" cy="644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33888" y="620503"/>
            <a:ext cx="9720072" cy="1402252"/>
          </a:xfrm>
        </p:spPr>
        <p:txBody>
          <a:bodyPr>
            <a:normAutofit/>
          </a:bodyPr>
          <a:lstStyle/>
          <a:p>
            <a:r>
              <a:rPr lang="sv-SE" sz="4800" dirty="0" smtClean="0"/>
              <a:t>A</a:t>
            </a:r>
            <a:endParaRPr lang="ru-RU" sz="4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04629" y="1420921"/>
            <a:ext cx="9842680" cy="5008594"/>
          </a:xfrm>
        </p:spPr>
        <p:txBody>
          <a:bodyPr/>
          <a:lstStyle/>
          <a:p>
            <a:pPr marL="0" indent="0">
              <a:buNone/>
            </a:pPr>
            <a:r>
              <a:rPr lang="sv-SE" sz="2800" dirty="0" smtClean="0"/>
              <a:t>Alvar Aalto</a:t>
            </a:r>
          </a:p>
          <a:p>
            <a:endParaRPr lang="sv-SE" dirty="0"/>
          </a:p>
          <a:p>
            <a:endParaRPr lang="sv-SE" dirty="0" smtClean="0"/>
          </a:p>
          <a:p>
            <a:endParaRPr lang="sv-SE" dirty="0"/>
          </a:p>
          <a:p>
            <a:endParaRPr lang="sv-SE" dirty="0" smtClean="0"/>
          </a:p>
          <a:p>
            <a:pPr marL="0" indent="0">
              <a:buNone/>
            </a:pPr>
            <a:r>
              <a:rPr lang="sv-SE" sz="5000" dirty="0" smtClean="0">
                <a:solidFill>
                  <a:srgbClr val="0070C0"/>
                </a:solidFill>
                <a:latin typeface="+mj-lt"/>
              </a:rPr>
              <a:t>B</a:t>
            </a:r>
          </a:p>
          <a:p>
            <a:pPr marL="0" indent="0">
              <a:buNone/>
            </a:pPr>
            <a:r>
              <a:rPr lang="sv-SE" sz="2800" dirty="0"/>
              <a:t>b</a:t>
            </a:r>
            <a:r>
              <a:rPr lang="sv-SE" sz="2800" dirty="0" smtClean="0"/>
              <a:t>anaani </a:t>
            </a:r>
            <a:endParaRPr lang="sv-SE" sz="2800" dirty="0" smtClean="0"/>
          </a:p>
          <a:p>
            <a:endParaRPr lang="ru-RU" dirty="0"/>
          </a:p>
        </p:txBody>
      </p:sp>
      <p:pic>
        <p:nvPicPr>
          <p:cNvPr id="2052" name="Picture 4" descr="Alvar Aalto Vas 16cm Amethist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" t="6930" r="-433" b="13808"/>
          <a:stretch/>
        </p:blipFill>
        <p:spPr bwMode="auto">
          <a:xfrm>
            <a:off x="1582710" y="1926521"/>
            <a:ext cx="2716414" cy="2153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yö yksi banaani päivässä – voit huomata nämä muutokset kehossasi | Makuja  | MTV Uutiset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58" y="4728644"/>
            <a:ext cx="3523240" cy="1981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181858" y="499682"/>
            <a:ext cx="652958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5000" dirty="0" smtClean="0">
                <a:solidFill>
                  <a:srgbClr val="0070C0"/>
                </a:solidFill>
              </a:rPr>
              <a:t>C</a:t>
            </a:r>
          </a:p>
          <a:p>
            <a:r>
              <a:rPr lang="sv-SE" sz="2800" dirty="0"/>
              <a:t>cd-levy</a:t>
            </a:r>
            <a:endParaRPr lang="ru-RU" sz="2800" dirty="0"/>
          </a:p>
        </p:txBody>
      </p:sp>
      <p:pic>
        <p:nvPicPr>
          <p:cNvPr id="2056" name="Picture 8" descr="CD-levyjen myyntiluvut jatkavat syöksyään Briteissä | YleX | yle.fi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190" y="1926521"/>
            <a:ext cx="3056836" cy="172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81858" y="3747752"/>
            <a:ext cx="61818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5000" dirty="0" smtClean="0">
                <a:solidFill>
                  <a:srgbClr val="0070C0"/>
                </a:solidFill>
              </a:rPr>
              <a:t>D</a:t>
            </a:r>
          </a:p>
          <a:p>
            <a:r>
              <a:rPr lang="sv-SE" sz="2800" dirty="0"/>
              <a:t>d</a:t>
            </a:r>
            <a:r>
              <a:rPr lang="sv-SE" sz="2800" dirty="0" smtClean="0"/>
              <a:t>elfiini</a:t>
            </a:r>
            <a:endParaRPr lang="sv-SE" sz="2800" dirty="0" smtClean="0"/>
          </a:p>
          <a:p>
            <a:endParaRPr lang="ru-RU" dirty="0"/>
          </a:p>
        </p:txBody>
      </p:sp>
      <p:pic>
        <p:nvPicPr>
          <p:cNvPr id="2058" name="Picture 10" descr="Pahvikoriste Delfiini"/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40" b="14031"/>
          <a:stretch/>
        </p:blipFill>
        <p:spPr bwMode="auto">
          <a:xfrm>
            <a:off x="6589157" y="4340270"/>
            <a:ext cx="3313681" cy="2370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5130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2759" y="540809"/>
            <a:ext cx="9720073" cy="5832842"/>
          </a:xfrm>
        </p:spPr>
        <p:txBody>
          <a:bodyPr/>
          <a:lstStyle/>
          <a:p>
            <a:pPr marL="0" indent="0">
              <a:buNone/>
            </a:pPr>
            <a:r>
              <a:rPr lang="sv-SE" sz="5000" dirty="0" smtClean="0">
                <a:solidFill>
                  <a:srgbClr val="0070C0"/>
                </a:solidFill>
              </a:rPr>
              <a:t>E</a:t>
            </a:r>
          </a:p>
          <a:p>
            <a:pPr marL="0" indent="0">
              <a:buNone/>
            </a:pPr>
            <a:r>
              <a:rPr lang="sv-SE" sz="2800" dirty="0" smtClean="0"/>
              <a:t>ei</a:t>
            </a:r>
          </a:p>
          <a:p>
            <a:pPr marL="0" indent="0">
              <a:buNone/>
            </a:pPr>
            <a:r>
              <a:rPr lang="sv-SE" sz="5000" dirty="0" smtClean="0">
                <a:solidFill>
                  <a:srgbClr val="0070C0"/>
                </a:solidFill>
              </a:rPr>
              <a:t>F</a:t>
            </a:r>
          </a:p>
          <a:p>
            <a:pPr marL="0" indent="0">
              <a:buNone/>
            </a:pPr>
            <a:r>
              <a:rPr lang="sv-SE" sz="2800" dirty="0"/>
              <a:t>f</a:t>
            </a:r>
            <a:r>
              <a:rPr lang="sv-SE" sz="2800" dirty="0" smtClean="0"/>
              <a:t>lunssa</a:t>
            </a:r>
          </a:p>
          <a:p>
            <a:pPr marL="0" indent="0">
              <a:buNone/>
            </a:pPr>
            <a:r>
              <a:rPr lang="sv-SE" sz="5000" dirty="0" smtClean="0">
                <a:solidFill>
                  <a:srgbClr val="0070C0"/>
                </a:solidFill>
              </a:rPr>
              <a:t>G</a:t>
            </a:r>
          </a:p>
          <a:p>
            <a:pPr marL="0" indent="0">
              <a:buNone/>
            </a:pPr>
            <a:r>
              <a:rPr lang="sv-SE" sz="2800" dirty="0" smtClean="0"/>
              <a:t>grilli</a:t>
            </a:r>
          </a:p>
        </p:txBody>
      </p:sp>
      <p:pic>
        <p:nvPicPr>
          <p:cNvPr id="3074" name="Picture 2" descr="Grilli Grillausta Grillattua - Ilmainen vektorigrafiikka Pixabayss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223" y="4636472"/>
            <a:ext cx="1256674" cy="2033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65950" y="476518"/>
            <a:ext cx="623337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4400" dirty="0">
                <a:solidFill>
                  <a:srgbClr val="0070C0"/>
                </a:solidFill>
              </a:rPr>
              <a:t>H</a:t>
            </a:r>
          </a:p>
          <a:p>
            <a:r>
              <a:rPr lang="sv-SE" sz="2800" dirty="0"/>
              <a:t>h</a:t>
            </a:r>
            <a:r>
              <a:rPr lang="sv-SE" sz="2800" dirty="0" smtClean="0"/>
              <a:t>attu</a:t>
            </a:r>
          </a:p>
          <a:p>
            <a:endParaRPr lang="sv-SE" dirty="0"/>
          </a:p>
          <a:p>
            <a:r>
              <a:rPr lang="sv-SE" sz="5000" dirty="0" smtClean="0">
                <a:solidFill>
                  <a:srgbClr val="0070C0"/>
                </a:solidFill>
              </a:rPr>
              <a:t>I</a:t>
            </a:r>
          </a:p>
          <a:p>
            <a:r>
              <a:rPr lang="sv-SE" sz="2800" dirty="0"/>
              <a:t>i</a:t>
            </a:r>
            <a:r>
              <a:rPr lang="sv-SE" sz="2800" dirty="0" smtClean="0"/>
              <a:t>sä</a:t>
            </a:r>
          </a:p>
          <a:p>
            <a:endParaRPr lang="sv-SE" dirty="0" smtClean="0"/>
          </a:p>
          <a:p>
            <a:r>
              <a:rPr lang="sv-SE" sz="5000" dirty="0" smtClean="0">
                <a:solidFill>
                  <a:srgbClr val="0070C0"/>
                </a:solidFill>
              </a:rPr>
              <a:t>J</a:t>
            </a:r>
          </a:p>
          <a:p>
            <a:r>
              <a:rPr lang="sv-SE" sz="2800" dirty="0" smtClean="0"/>
              <a:t>jäätelö</a:t>
            </a:r>
          </a:p>
          <a:p>
            <a:endParaRPr lang="sv-SE" dirty="0" smtClean="0"/>
          </a:p>
          <a:p>
            <a:r>
              <a:rPr lang="sv-SE" sz="5000" dirty="0" smtClean="0">
                <a:solidFill>
                  <a:srgbClr val="0070C0"/>
                </a:solidFill>
              </a:rPr>
              <a:t>K</a:t>
            </a:r>
          </a:p>
          <a:p>
            <a:r>
              <a:rPr lang="sv-SE" sz="2800" dirty="0" smtClean="0"/>
              <a:t>kirja</a:t>
            </a:r>
            <a:endParaRPr lang="ru-RU" sz="2800" dirty="0"/>
          </a:p>
          <a:p>
            <a:endParaRPr lang="ru-RU" dirty="0"/>
          </a:p>
        </p:txBody>
      </p:sp>
      <p:pic>
        <p:nvPicPr>
          <p:cNvPr id="3076" name="Picture 4" descr="Velhon hattu harmaa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682" y="368751"/>
            <a:ext cx="1980082" cy="167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Blue and White soft serve ice cream isolated on white backgroundcliping  path | Premium AI-generated image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5" t="6782" r="29388" b="4374"/>
          <a:stretch/>
        </p:blipFill>
        <p:spPr bwMode="auto">
          <a:xfrm>
            <a:off x="7844162" y="2830406"/>
            <a:ext cx="1174614" cy="1711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Kirjat, kirja. Värikkäitä kirjoja, tietoa' Tarra | Spreadshirt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596" y="4995488"/>
            <a:ext cx="1674254" cy="1674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1323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1848581" y="578073"/>
            <a:ext cx="9720073" cy="583284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5000" dirty="0">
                <a:solidFill>
                  <a:srgbClr val="0070C0"/>
                </a:solidFill>
              </a:rPr>
              <a:t>L</a:t>
            </a:r>
            <a:endParaRPr lang="sv-SE" sz="5000" dirty="0" smtClean="0">
              <a:solidFill>
                <a:srgbClr val="0070C0"/>
              </a:solidFill>
            </a:endParaRPr>
          </a:p>
          <a:p>
            <a:r>
              <a:rPr lang="sv-SE" sz="2800" dirty="0" smtClean="0"/>
              <a:t>lintu</a:t>
            </a:r>
          </a:p>
          <a:p>
            <a:endParaRPr lang="sv-SE" sz="5000" dirty="0" smtClean="0"/>
          </a:p>
          <a:p>
            <a:endParaRPr lang="sv-SE" sz="5000" dirty="0"/>
          </a:p>
          <a:p>
            <a:r>
              <a:rPr lang="sv-SE" sz="5000" dirty="0" smtClean="0">
                <a:solidFill>
                  <a:srgbClr val="0070C0"/>
                </a:solidFill>
              </a:rPr>
              <a:t>M</a:t>
            </a:r>
          </a:p>
          <a:p>
            <a:r>
              <a:rPr lang="sv-SE" sz="2800" dirty="0" smtClean="0"/>
              <a:t>mies</a:t>
            </a:r>
          </a:p>
        </p:txBody>
      </p:sp>
      <p:pic>
        <p:nvPicPr>
          <p:cNvPr id="4098" name="Picture 2" descr="BirdLife Suomi | Lintuohjelmaa lapsill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078" y="1908832"/>
            <a:ext cx="2079556" cy="1585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ixerstick tarra Iloinen mies sarjakuva kuva - PIXERS.FI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851" y="5054584"/>
            <a:ext cx="712560" cy="171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386651" y="572793"/>
            <a:ext cx="336138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5000" dirty="0">
                <a:solidFill>
                  <a:srgbClr val="0070C0"/>
                </a:solidFill>
              </a:rPr>
              <a:t>N</a:t>
            </a:r>
          </a:p>
          <a:p>
            <a:r>
              <a:rPr lang="sv-SE" sz="2800" dirty="0"/>
              <a:t>n</a:t>
            </a:r>
            <a:r>
              <a:rPr lang="sv-SE" sz="2800" dirty="0" smtClean="0"/>
              <a:t>ainen</a:t>
            </a:r>
            <a:endParaRPr lang="sv-SE" sz="2800" dirty="0" smtClean="0"/>
          </a:p>
          <a:p>
            <a:endParaRPr lang="sv-SE" dirty="0"/>
          </a:p>
          <a:p>
            <a:endParaRPr lang="sv-SE" dirty="0" smtClean="0"/>
          </a:p>
          <a:p>
            <a:endParaRPr lang="sv-SE" dirty="0"/>
          </a:p>
          <a:p>
            <a:endParaRPr lang="sv-SE" dirty="0" smtClean="0"/>
          </a:p>
          <a:p>
            <a:endParaRPr lang="sv-SE" dirty="0"/>
          </a:p>
          <a:p>
            <a:endParaRPr lang="sv-SE" dirty="0" smtClean="0"/>
          </a:p>
          <a:p>
            <a:endParaRPr lang="sv-SE" dirty="0"/>
          </a:p>
          <a:p>
            <a:r>
              <a:rPr lang="sv-SE" sz="5000" dirty="0" smtClean="0">
                <a:solidFill>
                  <a:srgbClr val="0070C0"/>
                </a:solidFill>
              </a:rPr>
              <a:t>O</a:t>
            </a:r>
            <a:endParaRPr lang="sv-SE" sz="5000" dirty="0" smtClean="0">
              <a:solidFill>
                <a:srgbClr val="0070C0"/>
              </a:solidFill>
            </a:endParaRPr>
          </a:p>
          <a:p>
            <a:r>
              <a:rPr lang="sv-SE" sz="2800" dirty="0" smtClean="0"/>
              <a:t>omena</a:t>
            </a:r>
          </a:p>
          <a:p>
            <a:endParaRPr lang="sv-SE" dirty="0"/>
          </a:p>
        </p:txBody>
      </p:sp>
      <p:pic>
        <p:nvPicPr>
          <p:cNvPr id="4102" name="Picture 6" descr="Nainen Sarjakuva Liikemies Piirustus, nainen, afacere, piirretty, kauneus  png | PNGWin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606" y="1894189"/>
            <a:ext cx="1674876" cy="182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Kuvapankin kuvitus otsikolla Piirretty Omena – Lataa kuva nyt - Omena,  Punainen, Vektori - iStock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0289" y="5241446"/>
            <a:ext cx="1043956" cy="1245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943426" y="508845"/>
            <a:ext cx="567958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5000" dirty="0" smtClean="0">
                <a:solidFill>
                  <a:srgbClr val="0070C0"/>
                </a:solidFill>
              </a:rPr>
              <a:t>P</a:t>
            </a:r>
          </a:p>
          <a:p>
            <a:r>
              <a:rPr lang="sv-SE" sz="2800" dirty="0"/>
              <a:t>p</a:t>
            </a:r>
            <a:r>
              <a:rPr lang="sv-SE" sz="2800" dirty="0" smtClean="0"/>
              <a:t>oika</a:t>
            </a:r>
            <a:endParaRPr lang="sv-SE" dirty="0"/>
          </a:p>
          <a:p>
            <a:endParaRPr lang="sv-SE" dirty="0" smtClean="0"/>
          </a:p>
          <a:p>
            <a:endParaRPr lang="sv-SE" dirty="0" smtClean="0"/>
          </a:p>
          <a:p>
            <a:endParaRPr lang="sv-SE" sz="5000" dirty="0" smtClean="0">
              <a:solidFill>
                <a:srgbClr val="0070C0"/>
              </a:solidFill>
            </a:endParaRPr>
          </a:p>
          <a:p>
            <a:endParaRPr lang="sv-SE" sz="5000" dirty="0">
              <a:solidFill>
                <a:srgbClr val="0070C0"/>
              </a:solidFill>
            </a:endParaRPr>
          </a:p>
          <a:p>
            <a:r>
              <a:rPr lang="sv-SE" sz="5000" dirty="0" smtClean="0">
                <a:solidFill>
                  <a:srgbClr val="0070C0"/>
                </a:solidFill>
              </a:rPr>
              <a:t>Q</a:t>
            </a:r>
            <a:endParaRPr lang="sv-SE" sz="5000" dirty="0" smtClean="0">
              <a:solidFill>
                <a:srgbClr val="0070C0"/>
              </a:solidFill>
            </a:endParaRPr>
          </a:p>
          <a:p>
            <a:r>
              <a:rPr lang="sv-SE" sz="2800" dirty="0" smtClean="0"/>
              <a:t>Qatar</a:t>
            </a:r>
          </a:p>
          <a:p>
            <a:endParaRPr lang="sv-SE" sz="5000" dirty="0" smtClean="0"/>
          </a:p>
        </p:txBody>
      </p:sp>
      <p:pic>
        <p:nvPicPr>
          <p:cNvPr id="4110" name="Picture 14" descr="Premium Vector | Cute little boy cartoon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009" y="1908832"/>
            <a:ext cx="1296977" cy="184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165173" y="3754077"/>
            <a:ext cx="418563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5000" dirty="0" smtClean="0">
                <a:solidFill>
                  <a:srgbClr val="0070C0"/>
                </a:solidFill>
              </a:rPr>
              <a:t>S</a:t>
            </a:r>
          </a:p>
          <a:p>
            <a:r>
              <a:rPr lang="sv-SE" sz="2800" dirty="0" smtClean="0"/>
              <a:t>Suomi</a:t>
            </a:r>
            <a:endParaRPr lang="sv-SE" sz="2800" dirty="0" smtClean="0"/>
          </a:p>
          <a:p>
            <a:r>
              <a:rPr lang="sv-SE" sz="2200" dirty="0"/>
              <a:t/>
            </a:r>
            <a:br>
              <a:rPr lang="sv-SE" sz="2200" dirty="0"/>
            </a:br>
            <a:endParaRPr lang="sv-SE" sz="2200" dirty="0" smtClean="0"/>
          </a:p>
          <a:p>
            <a:endParaRPr lang="sv-SE" sz="2200" dirty="0"/>
          </a:p>
          <a:p>
            <a:endParaRPr lang="sv-SE" sz="2200" dirty="0" smtClean="0"/>
          </a:p>
          <a:p>
            <a:endParaRPr lang="sv-SE" sz="2200" dirty="0"/>
          </a:p>
          <a:p>
            <a:endParaRPr lang="sv-SE" sz="2200" dirty="0" smtClean="0"/>
          </a:p>
          <a:p>
            <a:endParaRPr lang="sv-SE" dirty="0"/>
          </a:p>
          <a:p>
            <a:endParaRPr lang="ru-RU" sz="2200" dirty="0"/>
          </a:p>
          <a:p>
            <a:endParaRPr lang="ru-RU" sz="2200" dirty="0"/>
          </a:p>
        </p:txBody>
      </p:sp>
      <p:pic>
        <p:nvPicPr>
          <p:cNvPr id="1026" name="Picture 2" descr="Финляндия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3277" y="2812252"/>
            <a:ext cx="2650528" cy="3790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165173" y="555011"/>
            <a:ext cx="184919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5000" dirty="0" smtClean="0">
                <a:solidFill>
                  <a:srgbClr val="0070C0"/>
                </a:solidFill>
              </a:rPr>
              <a:t>R</a:t>
            </a:r>
          </a:p>
          <a:p>
            <a:r>
              <a:rPr lang="sv-SE" sz="2800" dirty="0" smtClean="0"/>
              <a:t>ruusu</a:t>
            </a:r>
            <a:endParaRPr lang="ru-RU" sz="2800" dirty="0"/>
          </a:p>
        </p:txBody>
      </p:sp>
      <p:pic>
        <p:nvPicPr>
          <p:cNvPr id="15" name="Picture 16" descr="Yksi punainen ruusu"/>
          <p:cNvPicPr>
            <a:picLocks noChangeAspect="1" noChangeArrowheads="1"/>
          </p:cNvPicPr>
          <p:nvPr/>
        </p:nvPicPr>
        <p:blipFill rotWithShape="1"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48" b="22035"/>
          <a:stretch/>
        </p:blipFill>
        <p:spPr bwMode="auto">
          <a:xfrm>
            <a:off x="8986857" y="2372237"/>
            <a:ext cx="1774065" cy="88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215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4697215" y="599845"/>
            <a:ext cx="2310694" cy="563569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v-SE" sz="5000" dirty="0" smtClean="0">
                <a:solidFill>
                  <a:srgbClr val="0070C0"/>
                </a:solidFill>
              </a:rPr>
              <a:t>W</a:t>
            </a:r>
          </a:p>
          <a:p>
            <a:r>
              <a:rPr lang="sv-SE" sz="2800" dirty="0" smtClean="0"/>
              <a:t>WC</a:t>
            </a:r>
            <a:endParaRPr lang="sv-SE" sz="2800" dirty="0"/>
          </a:p>
          <a:p>
            <a:pPr marL="0" indent="0">
              <a:buNone/>
            </a:pPr>
            <a:endParaRPr lang="sv-SE" sz="5000" dirty="0" smtClean="0"/>
          </a:p>
          <a:p>
            <a:pPr marL="0" indent="0">
              <a:buNone/>
            </a:pPr>
            <a:r>
              <a:rPr lang="sv-SE" sz="5000" dirty="0" smtClean="0">
                <a:solidFill>
                  <a:srgbClr val="0070C0"/>
                </a:solidFill>
              </a:rPr>
              <a:t>X</a:t>
            </a:r>
            <a:endParaRPr lang="sv-SE" sz="50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sv-SE" sz="2800" dirty="0"/>
              <a:t>x</a:t>
            </a:r>
            <a:r>
              <a:rPr lang="sv-SE" sz="2800" dirty="0" smtClean="0"/>
              <a:t>ylitol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r>
              <a:rPr lang="sv-SE" sz="5000" dirty="0" smtClean="0">
                <a:solidFill>
                  <a:srgbClr val="0070C0"/>
                </a:solidFill>
              </a:rPr>
              <a:t>Y</a:t>
            </a:r>
          </a:p>
          <a:p>
            <a:pPr marL="0" indent="0">
              <a:buNone/>
            </a:pPr>
            <a:r>
              <a:rPr lang="sv-SE" sz="2800" dirty="0" smtClean="0"/>
              <a:t>ystävä</a:t>
            </a:r>
            <a:endParaRPr lang="sv-SE" sz="28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946972" y="2894351"/>
            <a:ext cx="167151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5000" dirty="0">
                <a:solidFill>
                  <a:srgbClr val="0070C0"/>
                </a:solidFill>
              </a:rPr>
              <a:t>U</a:t>
            </a:r>
          </a:p>
          <a:p>
            <a:r>
              <a:rPr lang="sv-SE" sz="2800" dirty="0" smtClean="0"/>
              <a:t>uusi</a:t>
            </a:r>
            <a:endParaRPr lang="sv-SE" sz="2800" dirty="0"/>
          </a:p>
          <a:p>
            <a:endParaRPr lang="sv-SE" sz="5400" dirty="0"/>
          </a:p>
          <a:p>
            <a:r>
              <a:rPr lang="sv-SE" sz="5000" dirty="0">
                <a:solidFill>
                  <a:srgbClr val="0070C0"/>
                </a:solidFill>
              </a:rPr>
              <a:t>V</a:t>
            </a:r>
          </a:p>
          <a:p>
            <a:r>
              <a:rPr lang="sv-SE" sz="2800" dirty="0" smtClean="0"/>
              <a:t>vauva</a:t>
            </a:r>
          </a:p>
        </p:txBody>
      </p:sp>
      <p:pic>
        <p:nvPicPr>
          <p:cNvPr id="5122" name="Picture 2" descr="Vesiväri piirustus taramira öljy – Aineistopankin kuvituskuva, tekijä:  ©cat_arch_angel, nro 364984490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31" t="16729" r="24173" b="30185"/>
          <a:stretch/>
        </p:blipFill>
        <p:spPr bwMode="auto">
          <a:xfrm>
            <a:off x="10535743" y="1983922"/>
            <a:ext cx="1119388" cy="147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apunetin kuvapankki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12" r="22411" b="25769"/>
          <a:stretch/>
        </p:blipFill>
        <p:spPr bwMode="auto">
          <a:xfrm>
            <a:off x="8393642" y="4556344"/>
            <a:ext cx="1223704" cy="1622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Zombie Menyeramkan Menakutkan - Gambar vektor gratis di Pixaba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557973" y="247124"/>
            <a:ext cx="1138948" cy="2277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8" descr="Vauva vaaleanpunainen pyyhe sarjakuva' Tarra | Spreadshirt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39" y="4647900"/>
            <a:ext cx="1587639" cy="1587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972412" y="580315"/>
            <a:ext cx="1335564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5000" dirty="0" smtClean="0">
                <a:solidFill>
                  <a:srgbClr val="0070C0"/>
                </a:solidFill>
              </a:rPr>
              <a:t>T</a:t>
            </a:r>
          </a:p>
          <a:p>
            <a:r>
              <a:rPr lang="sv-SE" sz="2800" dirty="0"/>
              <a:t>t</a:t>
            </a:r>
            <a:r>
              <a:rPr lang="sv-SE" sz="2800" dirty="0" smtClean="0"/>
              <a:t>erve</a:t>
            </a:r>
            <a:endParaRPr lang="sv-SE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7328107" y="580315"/>
            <a:ext cx="213808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5000" dirty="0" smtClean="0">
                <a:solidFill>
                  <a:srgbClr val="0070C0"/>
                </a:solidFill>
              </a:rPr>
              <a:t>Z</a:t>
            </a:r>
          </a:p>
          <a:p>
            <a:r>
              <a:rPr lang="sv-SE" sz="2800" dirty="0" smtClean="0"/>
              <a:t>zombi</a:t>
            </a:r>
            <a:endParaRPr lang="ru-RU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7328107" y="2894351"/>
            <a:ext cx="122986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5000" dirty="0" smtClean="0">
                <a:solidFill>
                  <a:srgbClr val="0070C0"/>
                </a:solidFill>
              </a:rPr>
              <a:t>Å</a:t>
            </a:r>
          </a:p>
          <a:p>
            <a:r>
              <a:rPr lang="sv-SE" sz="2800" dirty="0" smtClean="0"/>
              <a:t>Åbo</a:t>
            </a:r>
            <a:endParaRPr lang="ru-RU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7391291" y="4925676"/>
            <a:ext cx="139069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5000" dirty="0" smtClean="0">
                <a:solidFill>
                  <a:srgbClr val="0070C0"/>
                </a:solidFill>
              </a:rPr>
              <a:t>Ä</a:t>
            </a:r>
          </a:p>
          <a:p>
            <a:r>
              <a:rPr lang="sv-SE" sz="2800" dirty="0" smtClean="0"/>
              <a:t>äiti</a:t>
            </a:r>
            <a:endParaRPr lang="ru-RU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10552302" y="580315"/>
            <a:ext cx="134470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5000" dirty="0" smtClean="0">
                <a:solidFill>
                  <a:srgbClr val="0070C0"/>
                </a:solidFill>
              </a:rPr>
              <a:t>Ö</a:t>
            </a:r>
          </a:p>
          <a:p>
            <a:r>
              <a:rPr lang="sv-SE" sz="2800" dirty="0" smtClean="0"/>
              <a:t>öljy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161038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63717" y="560041"/>
            <a:ext cx="9720073" cy="61303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4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Aino</a:t>
            </a:r>
            <a:r>
              <a:rPr lang="ru-RU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Kaija</a:t>
            </a:r>
            <a:r>
              <a:rPr lang="ru-RU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Eevi</a:t>
            </a:r>
            <a:r>
              <a:rPr lang="ru-RU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Helmi</a:t>
            </a:r>
            <a:r>
              <a:rPr lang="ru-RU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Hilja</a:t>
            </a:r>
            <a:r>
              <a:rPr lang="ru-RU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Meri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Lumikki</a:t>
            </a:r>
            <a:r>
              <a:rPr lang="ru-RU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Päivi</a:t>
            </a:r>
            <a:r>
              <a:rPr lang="ru-RU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Tyyni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Kyllikki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Outi</a:t>
            </a:r>
            <a:endParaRPr lang="ru-RU" sz="4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Alvar</a:t>
            </a:r>
            <a:r>
              <a:rPr lang="ru-RU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Heikki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Jukka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Jyrki</a:t>
            </a:r>
            <a:r>
              <a:rPr lang="en-US" sz="4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Timi</a:t>
            </a:r>
            <a:r>
              <a:rPr lang="ru-RU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Väjnö</a:t>
            </a:r>
            <a:r>
              <a:rPr lang="ru-RU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Päiviö</a:t>
            </a:r>
            <a:endParaRPr lang="ru-RU" sz="4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4400" b="1" dirty="0"/>
          </a:p>
          <a:p>
            <a:pPr marL="0" indent="0">
              <a:buNone/>
            </a:pPr>
            <a:r>
              <a:rPr lang="ru-RU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Suomi</a:t>
            </a:r>
            <a:r>
              <a:rPr lang="ru-RU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Ruotsi</a:t>
            </a:r>
            <a:r>
              <a:rPr lang="ru-RU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Norja</a:t>
            </a:r>
            <a:r>
              <a:rPr lang="ru-RU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v-SE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Tanska, </a:t>
            </a:r>
            <a:r>
              <a:rPr lang="ru-RU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Venäjä</a:t>
            </a:r>
            <a:r>
              <a:rPr lang="ru-RU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Puola</a:t>
            </a:r>
            <a:r>
              <a:rPr lang="ru-RU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Latvia</a:t>
            </a:r>
            <a:r>
              <a:rPr lang="ru-RU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Liettua</a:t>
            </a:r>
            <a:r>
              <a:rPr lang="ru-RU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Viro</a:t>
            </a:r>
            <a:r>
              <a:rPr lang="sv-SE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Ranska</a:t>
            </a:r>
            <a:r>
              <a:rPr lang="ru-RU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v-SE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Italia, </a:t>
            </a:r>
            <a:r>
              <a:rPr lang="sv-SE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Espanja, </a:t>
            </a:r>
            <a:r>
              <a:rPr lang="ru-RU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Englanti</a:t>
            </a:r>
            <a:r>
              <a:rPr lang="ru-RU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Saksa</a:t>
            </a:r>
            <a:r>
              <a:rPr lang="ru-RU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Itävalta</a:t>
            </a:r>
            <a:r>
              <a:rPr lang="sv-SE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Unkari,  Kiina, Intia, Japani, Turkki, Yhdysvallat</a:t>
            </a:r>
            <a:endParaRPr lang="ru-RU" sz="4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716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31259" y="336177"/>
            <a:ext cx="10367493" cy="652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761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22" t="992" r="-122" b="62353"/>
          <a:stretch/>
        </p:blipFill>
        <p:spPr bwMode="auto">
          <a:xfrm>
            <a:off x="524435" y="1094105"/>
            <a:ext cx="11309734" cy="39754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11939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29745" y="578603"/>
            <a:ext cx="10351584" cy="594322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sz="38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Olen.... </a:t>
            </a:r>
            <a:r>
              <a:rPr lang="en-US" sz="38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 </a:t>
            </a:r>
            <a:r>
              <a:rPr lang="sv-SE" sz="38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Minun nimi on </a:t>
            </a:r>
            <a:r>
              <a:rPr lang="sv-SE" sz="3800" b="1" dirty="0" smtClean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...   </a:t>
            </a:r>
            <a:r>
              <a:rPr lang="sv-SE" sz="3800" b="1" dirty="0" smtClean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Mikä </a:t>
            </a:r>
            <a:r>
              <a:rPr lang="sv-SE" sz="3800" b="1" dirty="0" smtClean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sinun nimi on?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sz="3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(Mun nimi on... </a:t>
            </a:r>
            <a:r>
              <a:rPr lang="sv-SE" sz="3800" b="1" dirty="0" smtClean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sv-SE" sz="3800" b="1" dirty="0" smtClean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Mikä </a:t>
            </a:r>
            <a:r>
              <a:rPr lang="sv-SE" sz="3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 nimi on?)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sz="4000" b="1" dirty="0" smtClean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Hauska </a:t>
            </a:r>
            <a:r>
              <a:rPr lang="sv-SE" sz="4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tutustua</a:t>
            </a:r>
            <a:r>
              <a:rPr lang="sv-SE" sz="4000" b="1" dirty="0" smtClean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  - Kiitos, samoin!</a:t>
            </a:r>
            <a:endParaRPr lang="sv-SE" sz="4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sz="40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sz="4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Mitä sinulle kuuluu? – Kiitos! Minulle kuuluu hyvää. Entä sinulle?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sz="4000" b="1" dirty="0" smtClean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Mitä </a:t>
            </a:r>
            <a:r>
              <a:rPr lang="sv-SE" sz="4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kuuluu? – Hyvää, kiitti</a:t>
            </a:r>
            <a:r>
              <a:rPr lang="sv-SE" sz="4000" b="1" dirty="0" smtClean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r>
              <a:rPr lang="en-US" sz="4000" b="1" dirty="0">
                <a:solidFill>
                  <a:srgbClr val="FF006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 </a:t>
            </a:r>
            <a:r>
              <a:rPr lang="sv-SE" sz="4000" b="1" dirty="0" smtClean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Ihanaa! </a:t>
            </a:r>
            <a:r>
              <a:rPr lang="en-US" sz="4000" b="1" dirty="0">
                <a:solidFill>
                  <a:srgbClr val="FF006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 </a:t>
            </a:r>
            <a:r>
              <a:rPr lang="en-US" sz="4000" b="1" dirty="0" smtClean="0">
                <a:solidFill>
                  <a:srgbClr val="FF006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v-SE" sz="4000" b="1" dirty="0" smtClean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Mitäs </a:t>
            </a:r>
            <a:r>
              <a:rPr lang="sv-SE" sz="4000" b="1" dirty="0" smtClean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tässä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v-SE" sz="4000" b="1" dirty="0" smtClean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Miten menee? – Hyvin! Kaikki on ok.</a:t>
            </a:r>
          </a:p>
        </p:txBody>
      </p:sp>
    </p:spTree>
    <p:extLst>
      <p:ext uri="{BB962C8B-B14F-4D97-AF65-F5344CB8AC3E}">
        <p14:creationId xmlns:p14="http://schemas.microsoft.com/office/powerpoint/2010/main" val="4117951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98186" y="585215"/>
            <a:ext cx="9720072" cy="6008767"/>
          </a:xfrm>
        </p:spPr>
        <p:txBody>
          <a:bodyPr>
            <a:normAutofit/>
          </a:bodyPr>
          <a:lstStyle/>
          <a:p>
            <a:r>
              <a:rPr lang="sv-SE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lasi</a:t>
            </a:r>
            <a:r>
              <a:rPr lang="sv-SE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(glass)</a:t>
            </a:r>
            <a:br>
              <a:rPr lang="sv-SE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Vesa</a:t>
            </a:r>
            <a:r>
              <a:rPr lang="sv-S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sv-SE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vessa</a:t>
            </a:r>
            <a:r>
              <a:rPr lang="sv-SE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(WC)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sv-SE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sv-S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matto </a:t>
            </a:r>
            <a:r>
              <a:rPr lang="sv-SE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carpet)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sv-SE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mato </a:t>
            </a:r>
            <a:r>
              <a:rPr lang="sv-SE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worm</a:t>
            </a:r>
            <a:r>
              <a:rPr lang="sv-SE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/>
              <a:t/>
            </a:r>
            <a:br>
              <a:rPr lang="ru-RU" dirty="0"/>
            </a:br>
            <a:r>
              <a:rPr lang="sv-SE" dirty="0" smtClean="0"/>
              <a:t/>
            </a:r>
            <a:br>
              <a:rPr lang="sv-SE" dirty="0" smtClean="0"/>
            </a:br>
            <a:endParaRPr lang="ru-RU" dirty="0"/>
          </a:p>
        </p:txBody>
      </p:sp>
      <p:pic>
        <p:nvPicPr>
          <p:cNvPr id="5124" name="Picture 4" descr="Стакан для свече варень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584" y="214080"/>
            <a:ext cx="1519155" cy="1519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Влюблённый червяк | Пикабу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047" y="1936377"/>
            <a:ext cx="2120140" cy="1484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93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01573" y="-150851"/>
            <a:ext cx="8623495" cy="690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444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7129" y="135001"/>
            <a:ext cx="10806722" cy="692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35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2171" y="575368"/>
            <a:ext cx="9720072" cy="1499616"/>
          </a:xfrm>
        </p:spPr>
        <p:txBody>
          <a:bodyPr>
            <a:normAutofit/>
          </a:bodyPr>
          <a:lstStyle/>
          <a:p>
            <a:r>
              <a:rPr lang="ru-RU" sz="4000" b="1" dirty="0" err="1" smtClean="0">
                <a:solidFill>
                  <a:srgbClr val="FF0066"/>
                </a:solidFill>
              </a:rPr>
              <a:t>Hää</a:t>
            </a:r>
            <a:r>
              <a:rPr lang="ru-RU" sz="4000" b="1" dirty="0" err="1" smtClean="0">
                <a:solidFill>
                  <a:schemeClr val="bg2">
                    <a:lumMod val="50000"/>
                  </a:schemeClr>
                </a:solidFill>
              </a:rPr>
              <a:t>yö</a:t>
            </a:r>
            <a:r>
              <a:rPr lang="ru-RU" sz="4000" b="1" dirty="0" err="1" smtClean="0">
                <a:solidFill>
                  <a:srgbClr val="FF0000"/>
                </a:solidFill>
              </a:rPr>
              <a:t>aio</a:t>
            </a:r>
            <a:endParaRPr lang="ru-RU" sz="4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69331" y="1466487"/>
            <a:ext cx="10125446" cy="49068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4000" dirty="0" err="1" smtClean="0"/>
              <a:t>Hämärä</a:t>
            </a:r>
            <a:r>
              <a:rPr lang="ru-RU" sz="4000" dirty="0" smtClean="0"/>
              <a:t> </a:t>
            </a:r>
            <a:r>
              <a:rPr lang="ru-RU" sz="4000" dirty="0" err="1"/>
              <a:t>mäkärä</a:t>
            </a:r>
            <a:r>
              <a:rPr lang="ru-RU" sz="4000" dirty="0"/>
              <a:t> </a:t>
            </a:r>
            <a:r>
              <a:rPr lang="ru-RU" sz="4000" dirty="0" err="1"/>
              <a:t>kämisi</a:t>
            </a:r>
            <a:r>
              <a:rPr lang="ru-RU" sz="4000" dirty="0"/>
              <a:t> </a:t>
            </a:r>
            <a:r>
              <a:rPr lang="ru-RU" sz="4000" dirty="0" err="1"/>
              <a:t>mähässä</a:t>
            </a:r>
            <a:r>
              <a:rPr lang="ru-RU" sz="4000" dirty="0"/>
              <a:t/>
            </a:r>
            <a:br>
              <a:rPr lang="ru-RU" sz="4000" dirty="0"/>
            </a:br>
            <a:r>
              <a:rPr lang="ru-RU" sz="2400" dirty="0" smtClean="0"/>
              <a:t>(</a:t>
            </a:r>
            <a:r>
              <a:rPr lang="sv-SE" sz="2400" dirty="0" smtClean="0"/>
              <a:t>Black fly was lying on the stomach</a:t>
            </a:r>
            <a:r>
              <a:rPr lang="ru-RU" sz="2400" dirty="0" smtClean="0"/>
              <a:t>)</a:t>
            </a:r>
            <a:r>
              <a:rPr lang="ru-RU" sz="4000" dirty="0"/>
              <a:t/>
            </a:r>
            <a:br>
              <a:rPr lang="ru-RU" sz="4000" dirty="0"/>
            </a:br>
            <a:r>
              <a:rPr lang="ru-RU" sz="4000" dirty="0" err="1" smtClean="0"/>
              <a:t>Tuulan</a:t>
            </a:r>
            <a:r>
              <a:rPr lang="ru-RU" sz="4000" dirty="0" smtClean="0"/>
              <a:t> </a:t>
            </a:r>
            <a:r>
              <a:rPr lang="ru-RU" sz="4000" dirty="0" err="1"/>
              <a:t>ja</a:t>
            </a:r>
            <a:r>
              <a:rPr lang="ru-RU" sz="4000" dirty="0"/>
              <a:t> </a:t>
            </a:r>
            <a:r>
              <a:rPr lang="ru-RU" sz="4000" dirty="0" err="1"/>
              <a:t>Tuulin</a:t>
            </a:r>
            <a:r>
              <a:rPr lang="ru-RU" sz="4000" dirty="0"/>
              <a:t> </a:t>
            </a:r>
            <a:r>
              <a:rPr lang="ru-RU" sz="4000" dirty="0" err="1"/>
              <a:t>tuulinen</a:t>
            </a:r>
            <a:r>
              <a:rPr lang="ru-RU" sz="4000" dirty="0"/>
              <a:t> </a:t>
            </a:r>
            <a:r>
              <a:rPr lang="ru-RU" sz="4000" dirty="0" err="1"/>
              <a:t>tuuli</a:t>
            </a:r>
            <a:r>
              <a:rPr lang="ru-RU" sz="4000" dirty="0"/>
              <a:t> </a:t>
            </a:r>
            <a:r>
              <a:rPr lang="ru-RU" sz="4000" dirty="0" err="1"/>
              <a:t>tuulee</a:t>
            </a:r>
            <a:r>
              <a:rPr lang="ru-RU" sz="4000" dirty="0"/>
              <a:t> </a:t>
            </a:r>
            <a:r>
              <a:rPr lang="ru-RU" sz="4000" dirty="0" err="1"/>
              <a:t>talvella</a:t>
            </a:r>
            <a:r>
              <a:rPr lang="ru-RU" sz="4000" dirty="0"/>
              <a:t> </a:t>
            </a:r>
            <a:r>
              <a:rPr lang="ru-RU" sz="4000" dirty="0" err="1"/>
              <a:t>täällä</a:t>
            </a:r>
            <a:r>
              <a:rPr lang="ru-RU" sz="4000" dirty="0"/>
              <a:t> </a:t>
            </a:r>
            <a:r>
              <a:rPr lang="ru-RU" sz="4000" dirty="0" err="1"/>
              <a:t>ja</a:t>
            </a:r>
            <a:r>
              <a:rPr lang="ru-RU" sz="4000" dirty="0"/>
              <a:t> </a:t>
            </a:r>
            <a:r>
              <a:rPr lang="ru-RU" sz="4000" dirty="0" err="1"/>
              <a:t>tuolla</a:t>
            </a:r>
            <a:r>
              <a:rPr lang="ru-RU" sz="4000" dirty="0"/>
              <a:t/>
            </a:r>
            <a:br>
              <a:rPr lang="ru-RU" sz="4000" dirty="0"/>
            </a:br>
            <a:r>
              <a:rPr lang="ru-RU" sz="2400" dirty="0" smtClean="0"/>
              <a:t>(</a:t>
            </a:r>
            <a:r>
              <a:rPr lang="en-US" sz="2400" dirty="0" err="1"/>
              <a:t>Tuula</a:t>
            </a:r>
            <a:r>
              <a:rPr lang="en-US" sz="2400" dirty="0"/>
              <a:t> and </a:t>
            </a:r>
            <a:r>
              <a:rPr lang="en-US" sz="2400" dirty="0" err="1"/>
              <a:t>Tuuli's</a:t>
            </a:r>
            <a:r>
              <a:rPr lang="en-US" sz="2400" dirty="0"/>
              <a:t> windy wind blows here and there in winter</a:t>
            </a:r>
            <a:r>
              <a:rPr lang="ru-RU" sz="2400" dirty="0" smtClean="0"/>
              <a:t>)</a:t>
            </a:r>
            <a:r>
              <a:rPr lang="ru-RU" sz="4000" dirty="0"/>
              <a:t/>
            </a:r>
            <a:br>
              <a:rPr lang="ru-RU" sz="4000" dirty="0"/>
            </a:br>
            <a:r>
              <a:rPr lang="ru-RU" sz="4000" dirty="0" err="1" smtClean="0"/>
              <a:t>Höyhen</a:t>
            </a:r>
            <a:r>
              <a:rPr lang="ru-RU" sz="4000" dirty="0" smtClean="0"/>
              <a:t> </a:t>
            </a:r>
            <a:r>
              <a:rPr lang="ru-RU" sz="4000" dirty="0" err="1"/>
              <a:t>löytyi</a:t>
            </a:r>
            <a:r>
              <a:rPr lang="ru-RU" sz="4000" dirty="0"/>
              <a:t> </a:t>
            </a:r>
            <a:r>
              <a:rPr lang="ru-RU" sz="4000" dirty="0" err="1"/>
              <a:t>yöllä</a:t>
            </a:r>
            <a:r>
              <a:rPr lang="ru-RU" sz="4000" dirty="0"/>
              <a:t> </a:t>
            </a:r>
            <a:r>
              <a:rPr lang="ru-RU" sz="4000" dirty="0" err="1" smtClean="0"/>
              <a:t>työpöydältä</a:t>
            </a:r>
            <a:endParaRPr lang="sv-SE" sz="4000" dirty="0" smtClean="0"/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smtClean="0"/>
              <a:t>A </a:t>
            </a:r>
            <a:r>
              <a:rPr lang="en-US" sz="2400" dirty="0"/>
              <a:t>feather was found on the desk at </a:t>
            </a:r>
            <a:r>
              <a:rPr lang="en-US" sz="2400" dirty="0" smtClean="0"/>
              <a:t>night)</a:t>
            </a:r>
            <a:endParaRPr lang="sv-SE" sz="2400" dirty="0" smtClean="0"/>
          </a:p>
          <a:p>
            <a:endParaRPr lang="sv-SE" sz="2800" dirty="0" smtClean="0"/>
          </a:p>
          <a:p>
            <a:r>
              <a:rPr lang="sv-SE" sz="2800" b="1" dirty="0" smtClean="0"/>
              <a:t>Listen </a:t>
            </a:r>
            <a:r>
              <a:rPr lang="sv-SE" sz="2800" b="1" dirty="0" smtClean="0"/>
              <a:t>to </a:t>
            </a:r>
            <a:r>
              <a:rPr lang="sv-SE" sz="2800" b="1" dirty="0" smtClean="0"/>
              <a:t>tongue twisters</a:t>
            </a:r>
            <a:r>
              <a:rPr lang="sv-SE" sz="2800" dirty="0" smtClean="0"/>
              <a:t>: </a:t>
            </a:r>
            <a:r>
              <a:rPr lang="sv-SE" sz="2800" dirty="0">
                <a:hlinkClick r:id="rId2"/>
              </a:rPr>
              <a:t>https://www.tongue-twister.net/fi.htm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18997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97745" y="-113084"/>
            <a:ext cx="10512939" cy="644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79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4254" y="1001160"/>
            <a:ext cx="11693503" cy="510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866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06071" y="251011"/>
            <a:ext cx="11842513" cy="599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289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2289" y="451268"/>
            <a:ext cx="12076569" cy="494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910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035"/>
          <a:stretch/>
        </p:blipFill>
        <p:spPr>
          <a:xfrm>
            <a:off x="286368" y="1137383"/>
            <a:ext cx="11905632" cy="437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270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9964" y="1349184"/>
            <a:ext cx="12354618" cy="528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4240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790" y="1355169"/>
            <a:ext cx="11895786" cy="397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88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393"/>
          <a:stretch/>
        </p:blipFill>
        <p:spPr>
          <a:xfrm>
            <a:off x="623687" y="120653"/>
            <a:ext cx="11079610" cy="663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329281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TM02892315[[fn=Легкий дым]]</Template>
  <TotalTime>753</TotalTime>
  <Words>258</Words>
  <Application>Microsoft Office PowerPoint</Application>
  <PresentationFormat>Широкоэкранный</PresentationFormat>
  <Paragraphs>129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4" baseType="lpstr">
      <vt:lpstr>Arial</vt:lpstr>
      <vt:lpstr>Calibri</vt:lpstr>
      <vt:lpstr>Century Gothic</vt:lpstr>
      <vt:lpstr>Times New Roman</vt:lpstr>
      <vt:lpstr>Tw Cen MT</vt:lpstr>
      <vt:lpstr>Wingdings 3</vt:lpstr>
      <vt:lpstr>Легкий дым</vt:lpstr>
      <vt:lpstr>moodle.abo.fi</vt:lpstr>
      <vt:lpstr>Taloissanne  taloissanne  in our houses </vt:lpstr>
      <vt:lpstr>Презентация PowerPoint</vt:lpstr>
      <vt:lpstr>Puhekieli</vt:lpstr>
      <vt:lpstr>Why is Finnish easy to learn?</vt:lpstr>
      <vt:lpstr>sisu – willpower, determination regardless of cost</vt:lpstr>
      <vt:lpstr>Презентация PowerPoint</vt:lpstr>
      <vt:lpstr>A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Lassi – lasi (glass)  Vesa – vessa (WC)   matto (a carpet) – mato (a worm)  </vt:lpstr>
      <vt:lpstr>Презентация PowerPoint</vt:lpstr>
      <vt:lpstr>Презентация PowerPoint</vt:lpstr>
      <vt:lpstr>Hääyöaio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Suomi</dc:title>
  <dc:creator>Nina</dc:creator>
  <cp:lastModifiedBy>Nina</cp:lastModifiedBy>
  <cp:revision>61</cp:revision>
  <dcterms:created xsi:type="dcterms:W3CDTF">2022-09-11T14:20:48Z</dcterms:created>
  <dcterms:modified xsi:type="dcterms:W3CDTF">2026-08-31T08:46:44Z</dcterms:modified>
</cp:coreProperties>
</file>